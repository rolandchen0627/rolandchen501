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  <p:sldMasterId id="2147483779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64" r:id="rId7"/>
    <p:sldId id="266" r:id="rId8"/>
    <p:sldId id="269" r:id="rId9"/>
    <p:sldId id="265" r:id="rId10"/>
    <p:sldId id="270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374C3-D7A4-45AB-A00C-A5383E8CAC26}" type="datetimeFigureOut">
              <a:rPr lang="zh-TW" altLang="en-US" smtClean="0"/>
              <a:t>2025/6/25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A5AAD-DB98-4378-BCE5-75D15E6AE8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5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5AAD-DB98-4378-BCE5-75D15E6AE8F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08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5AAD-DB98-4378-BCE5-75D15E6AE8F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65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5AAD-DB98-4378-BCE5-75D15E6AE8F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11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0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7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1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0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4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4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010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23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55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96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46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7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45228-E690-4FE9-85D6-1ECFFF0E2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351EBE-2C2C-4765-A3B9-8D05C69D6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70B91-7B41-4DB7-A24E-9045B65A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AAB765-1EFA-4A30-819B-8F9D8E3E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F64753-2484-4F2F-AC10-9DB92BBF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20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AB47F-A1CA-4E08-BFE3-96C95054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8BAD0B-2ECE-42B0-8CDE-BC104DAC3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22715B-3E88-4AD6-93F9-90AED743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C12344-4AF2-424E-8D76-409C2603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861F1E-FDA7-4B99-8BF1-F6912642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86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2A6A7-B2F9-4AD1-B7E4-E324E6FC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785EB8-9883-4825-9005-3BFEFAF18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629C2-4505-461C-8536-CE1DA136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3F4228-B880-416C-A0A7-3BFC22E0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41D7F-D3C1-451D-8652-6C029862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2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0402-FDAF-479D-AC5E-1CFD167B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B935AA-D92F-43B9-81B2-270A073A4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3DD2E6-3D3D-4CEF-A357-42052FA20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FE596B-AD14-4B4E-B219-6380A067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45E878-BBC1-4787-9F0A-1D11DB21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92808C-130D-459E-BEFC-DF7F0F10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90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9E9E5B-C671-4591-A363-1F71FD20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72F3E2-AA9C-44CD-9FFB-8CBB94F31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CC0F82-BB7E-44B7-93D4-A54FA6B93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CA7EF0-B2E3-4A80-A02A-9EA77EB20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8723BDE-47DA-47EC-A255-518DDF3AE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29F551-5991-4ED3-A03F-05D1CEA3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7E0A66-1B0D-4680-BF92-F1786F035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FD64B0C-08C1-4F1B-9FCC-DACC9E9F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01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B1D026-F722-4408-8C31-C8130DED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263881-A4ED-4F7D-BB35-6854545C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35FB826-39E6-4A0E-98DB-33762439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3840F48-B24D-4A30-AF60-17E068AC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7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204E5E6-346F-4678-A7ED-92FFEAA6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5834DD7-E208-41F6-BF35-4C91EDFA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A03F5F-7CF2-4B21-8281-04D9A207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62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5200C-D9AA-4F39-88F9-2BDEBBA6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A2ECE9-E4D6-40B7-A939-61A36126A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6C80FF-EA1D-4138-971B-89548BDBC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1EA65F-0E31-4AB0-B5B0-61794CB7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D80391-8208-4C72-B116-204BD619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2DCCBF-9344-4A9A-B5F5-B0310A1C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11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EF4E2A-8130-45AF-A17A-B669EBD9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F4E5BD9-6A10-4016-90D5-865B6D4F3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D338F6-5AC3-4E1C-A1AE-EC8BBCBCB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478A40-A2D2-42B4-8FB1-51DF1F61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2F0D83-D12F-45F0-A48E-DD9A8FEC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E1E02F-BC42-4638-B4E1-2A0510B5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796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78AE2-0C14-4B65-9E99-50815250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2E676E-A147-4888-B31E-C783D5FBC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F7A62F-58FD-4A81-AF4A-59094296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33A553-1E37-4EE9-A3A1-8DE5EF75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22F904-8139-4484-8AFA-5CD76CB3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585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06938D0-161D-4943-85F2-6620F605C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5FE35D-6AE7-462A-9589-46B364B81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BF8039-F308-4BD9-9365-84D947DA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4C07D-C66A-47CA-8DD4-934E4A90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852655-468A-4CFB-A263-C48037F4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3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8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EB48D5D-49A2-42CB-B621-99345347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148FBE-0292-4BCF-9F3D-3541BE1E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038211-B420-43B5-8319-EBE05FF85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AB39F2-AD91-442E-8159-1E6D0DAD1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BC54EA-514B-441C-9ED3-23BF9718F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4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618518"/>
            <a:ext cx="7429499" cy="1478570"/>
          </a:xfrm>
        </p:spPr>
        <p:txBody>
          <a:bodyPr/>
          <a:lstStyle/>
          <a:p>
            <a:r>
              <a:rPr lang="zh-TW" altLang="en-US" dirty="0"/>
              <a:t>陳信榮</a:t>
            </a:r>
            <a:r>
              <a:rPr lang="en-US" altLang="zh-TW" dirty="0"/>
              <a:t>(Roland)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97088"/>
            <a:ext cx="7594166" cy="2031325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INFJ</a:t>
            </a:r>
            <a:r>
              <a:rPr lang="zh-TW" altLang="en-US" dirty="0"/>
              <a:t>｜擅長邏輯分析與問題解決</a:t>
            </a:r>
            <a:endParaRPr lang="en-US" altLang="zh-TW" dirty="0"/>
          </a:p>
          <a:p>
            <a:r>
              <a:rPr lang="zh-TW" altLang="en-US" dirty="0"/>
              <a:t>目前任職於數據相關部門，負責企業內部數據應用與自動化報表</a:t>
            </a:r>
            <a:endParaRPr lang="en-US" altLang="zh-TW" dirty="0"/>
          </a:p>
          <a:p>
            <a:r>
              <a:rPr lang="zh-TW" altLang="en-US" dirty="0"/>
              <a:t>技能：</a:t>
            </a:r>
            <a:r>
              <a:rPr lang="en-US" altLang="zh-TW" dirty="0"/>
              <a:t>Python / MS</a:t>
            </a:r>
            <a:r>
              <a:rPr lang="zh-TW" altLang="en-US" dirty="0"/>
              <a:t> </a:t>
            </a:r>
            <a:r>
              <a:rPr lang="en-US" altLang="zh-TW" dirty="0"/>
              <a:t>SQL / Fine BI /SAP</a:t>
            </a:r>
            <a:r>
              <a:rPr lang="zh-TW" altLang="en-US" dirty="0"/>
              <a:t> </a:t>
            </a:r>
            <a:r>
              <a:rPr lang="en-US" altLang="zh-TW"/>
              <a:t>/ </a:t>
            </a:r>
            <a:r>
              <a:rPr lang="en-US" altLang="zh-TW" dirty="0"/>
              <a:t>Excel </a:t>
            </a:r>
          </a:p>
          <a:p>
            <a:r>
              <a:rPr lang="zh-TW" altLang="en-US" dirty="0"/>
              <a:t>擅長跨部門協作，具備從需求轉譯到實作落地的能力</a:t>
            </a:r>
            <a:endParaRPr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25AF03-4E04-47B4-9D83-3307D2EFC0E9}"/>
              </a:ext>
            </a:extLst>
          </p:cNvPr>
          <p:cNvSpPr txBox="1"/>
          <p:nvPr/>
        </p:nvSpPr>
        <p:spPr>
          <a:xfrm>
            <a:off x="946981" y="4529765"/>
            <a:ext cx="72500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💼 </a:t>
            </a:r>
            <a:r>
              <a:rPr lang="en-US" altLang="zh-TW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INFJ </a:t>
            </a:r>
            <a:r>
              <a:rPr lang="zh-TW" alt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在工作上的特質：</a:t>
            </a:r>
          </a:p>
          <a:p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🎯 </a:t>
            </a:r>
            <a:r>
              <a:rPr lang="zh-TW" alt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使命感強</a:t>
            </a:r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：不只是完成任務，更重視「做這件事是否有意義」。</a:t>
            </a:r>
          </a:p>
          <a:p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🔍 </a:t>
            </a:r>
            <a:r>
              <a:rPr lang="zh-TW" alt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洞察力高</a:t>
            </a:r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：能看出人與事背後的潛在動機或趨勢。</a:t>
            </a:r>
          </a:p>
          <a:p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🤝 </a:t>
            </a:r>
            <a:r>
              <a:rPr lang="zh-TW" altLang="en-US"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溝通深刻</a:t>
            </a:r>
            <a:r>
              <a:rPr lang="zh-TW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：重質不重量，偏好有建設性、有價值的討論。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數據任務日常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330948"/>
            <a:ext cx="7429499" cy="2536019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+mn-ea"/>
              </a:rPr>
              <a:t>📦 </a:t>
            </a:r>
            <a:r>
              <a:rPr lang="zh-TW" altLang="en-US" dirty="0">
                <a:latin typeface="+mn-ea"/>
              </a:rPr>
              <a:t>每日自動化報表派送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📊 管理儀表板設計（</a:t>
            </a:r>
            <a:r>
              <a:rPr lang="en-US" altLang="zh-TW" dirty="0">
                <a:latin typeface="+mn-ea"/>
              </a:rPr>
              <a:t>BI</a:t>
            </a:r>
            <a:r>
              <a:rPr lang="zh-TW" altLang="en-US" dirty="0">
                <a:latin typeface="+mn-ea"/>
              </a:rPr>
              <a:t>）</a:t>
            </a:r>
          </a:p>
          <a:p>
            <a:r>
              <a:rPr dirty="0">
                <a:latin typeface="+mn-ea"/>
              </a:rPr>
              <a:t>🔍 </a:t>
            </a:r>
            <a:r>
              <a:rPr dirty="0" err="1">
                <a:latin typeface="+mn-ea"/>
              </a:rPr>
              <a:t>CRM客戶名單建構與清洗分析</a:t>
            </a:r>
            <a:endParaRPr lang="en-US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⚙️ 爬蟲工程獲取大量淺在客戶名單</a:t>
            </a:r>
            <a:endParaRPr dirty="0">
              <a:latin typeface="+mn-ea"/>
            </a:endParaRPr>
          </a:p>
          <a:p>
            <a:r>
              <a:rPr dirty="0">
                <a:latin typeface="+mn-ea"/>
              </a:rPr>
              <a:t>🛠️ </a:t>
            </a:r>
            <a:r>
              <a:rPr dirty="0" err="1">
                <a:latin typeface="+mn-ea"/>
              </a:rPr>
              <a:t>系統串接與</a:t>
            </a:r>
            <a:r>
              <a:rPr dirty="0">
                <a:latin typeface="+mn-ea"/>
              </a:rPr>
              <a:t> API </a:t>
            </a:r>
            <a:r>
              <a:rPr dirty="0" err="1">
                <a:latin typeface="+mn-ea"/>
              </a:rPr>
              <a:t>自動同步</a:t>
            </a:r>
            <a:endParaRPr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latin typeface="+mj-ea"/>
              </a:rPr>
              <a:t>專案實戰</a:t>
            </a:r>
            <a:r>
              <a:rPr dirty="0"/>
              <a:t> #1：</a:t>
            </a:r>
            <a:r>
              <a:rPr lang="zh-TW" altLang="en-US" dirty="0"/>
              <a:t>自動派發任務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102002"/>
            <a:ext cx="7511193" cy="3876011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lang="zh-TW" altLang="en-US" sz="9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專案效益</a:t>
            </a:r>
            <a:endParaRPr lang="en-US" altLang="zh-TW" sz="9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6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TW" altLang="en-US" sz="9600" b="0" dirty="0">
                <a:solidFill>
                  <a:srgbClr val="BABED8"/>
                </a:solidFill>
                <a:effectLst/>
                <a:latin typeface="Consolas" panose="020B0609020204030204" pitchFamily="49" charset="0"/>
              </a:rPr>
              <a:t> 節省每日約 </a:t>
            </a:r>
            <a:r>
              <a:rPr lang="zh-TW" altLang="en-US" sz="9600" b="1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zh-TW" sz="9600" b="1" dirty="0">
                <a:solidFill>
                  <a:srgbClr val="F07178"/>
                </a:solidFill>
                <a:effectLst/>
                <a:latin typeface="Consolas" panose="020B0609020204030204" pitchFamily="49" charset="0"/>
              </a:rPr>
              <a:t>2~3 </a:t>
            </a:r>
            <a:r>
              <a:rPr lang="zh-TW" altLang="en-US" sz="9600" b="1" dirty="0">
                <a:solidFill>
                  <a:srgbClr val="F07178"/>
                </a:solidFill>
                <a:effectLst/>
                <a:latin typeface="Consolas" panose="020B0609020204030204" pitchFamily="49" charset="0"/>
              </a:rPr>
              <a:t>小時</a:t>
            </a:r>
            <a:r>
              <a:rPr lang="zh-TW" altLang="en-US" sz="9600" b="1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zh-TW" altLang="en-US" sz="9600" b="0" dirty="0">
                <a:solidFill>
                  <a:srgbClr val="BABED8"/>
                </a:solidFill>
                <a:effectLst/>
                <a:latin typeface="Consolas" panose="020B0609020204030204" pitchFamily="49" charset="0"/>
              </a:rPr>
              <a:t> 重複性人工作業</a:t>
            </a:r>
          </a:p>
          <a:p>
            <a:r>
              <a:rPr lang="en-US" altLang="zh-TW" sz="96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TW" altLang="en-US" sz="9600" b="0" dirty="0">
                <a:solidFill>
                  <a:srgbClr val="BABED8"/>
                </a:solidFill>
                <a:effectLst/>
                <a:latin typeface="Consolas" panose="020B0609020204030204" pitchFamily="49" charset="0"/>
              </a:rPr>
              <a:t> 提高數據處理正確性與一致性</a:t>
            </a:r>
          </a:p>
          <a:p>
            <a:r>
              <a:rPr lang="en-US" altLang="zh-TW" sz="96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TW" altLang="en-US" sz="9600" b="0" dirty="0">
                <a:solidFill>
                  <a:srgbClr val="BABED8"/>
                </a:solidFill>
                <a:effectLst/>
                <a:latin typeface="Consolas" panose="020B0609020204030204" pitchFamily="49" charset="0"/>
              </a:rPr>
              <a:t> 強化團隊決策依據的即時性與透明度</a:t>
            </a:r>
            <a:endParaRPr lang="en-US" altLang="zh-TW" sz="9600" b="0" dirty="0">
              <a:solidFill>
                <a:srgbClr val="BABED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8000" b="1" dirty="0">
                <a:solidFill>
                  <a:srgbClr val="FFC000"/>
                </a:solidFill>
              </a:rPr>
              <a:t>Python </a:t>
            </a:r>
            <a:r>
              <a:rPr lang="zh-TW" altLang="en-US" sz="8000" b="1" dirty="0">
                <a:solidFill>
                  <a:srgbClr val="FFC000"/>
                </a:solidFill>
              </a:rPr>
              <a:t>獲取</a:t>
            </a:r>
            <a:r>
              <a:rPr lang="en-US" altLang="zh-TW" sz="8000" b="1" dirty="0">
                <a:solidFill>
                  <a:srgbClr val="FFC000"/>
                </a:solidFill>
              </a:rPr>
              <a:t>CRM</a:t>
            </a:r>
            <a:r>
              <a:rPr lang="zh-TW" altLang="en-US" sz="8000" b="1" dirty="0">
                <a:solidFill>
                  <a:srgbClr val="FFC000"/>
                </a:solidFill>
              </a:rPr>
              <a:t> </a:t>
            </a:r>
            <a:r>
              <a:rPr lang="en-US" altLang="zh-TW" sz="8000" b="1" dirty="0">
                <a:solidFill>
                  <a:srgbClr val="FFC000"/>
                </a:solidFill>
              </a:rPr>
              <a:t>token ➜ ETL </a:t>
            </a:r>
            <a:r>
              <a:rPr lang="zh-TW" altLang="en-US" sz="8000" b="1" dirty="0">
                <a:solidFill>
                  <a:srgbClr val="FFC000"/>
                </a:solidFill>
              </a:rPr>
              <a:t> ➜ 定時器 </a:t>
            </a:r>
            <a:r>
              <a:rPr lang="en-US" altLang="zh-TW" sz="8000" b="1" dirty="0">
                <a:solidFill>
                  <a:srgbClr val="FFC000"/>
                </a:solidFill>
              </a:rPr>
              <a:t>(FDL)</a:t>
            </a:r>
            <a:r>
              <a:rPr lang="zh-TW" altLang="en-US" sz="8000" b="1" dirty="0">
                <a:solidFill>
                  <a:srgbClr val="FFC000"/>
                </a:solidFill>
              </a:rPr>
              <a:t> ➜  派發交辦 </a:t>
            </a:r>
            <a:endParaRPr lang="en-US" altLang="zh-TW" sz="80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zh-TW" altLang="en-US" sz="9600" b="1" dirty="0"/>
              <a:t>            ：</a:t>
            </a:r>
            <a:r>
              <a:rPr lang="en-US" altLang="zh-TW" sz="9600" b="1" dirty="0"/>
              <a:t>os_task.py</a:t>
            </a:r>
            <a:endParaRPr lang="zh-TW" altLang="en-US" sz="9600" b="1" dirty="0"/>
          </a:p>
          <a:p>
            <a:endParaRPr lang="en-US" altLang="zh-TW" sz="9600" b="0" dirty="0">
              <a:solidFill>
                <a:srgbClr val="BABED8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sz="9600" b="0" dirty="0">
              <a:solidFill>
                <a:srgbClr val="BABED8"/>
              </a:solidFill>
              <a:effectLst/>
              <a:latin typeface="Consolas" panose="020B0609020204030204" pitchFamily="49" charset="0"/>
            </a:endParaRPr>
          </a:p>
          <a:p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ED0249-CDFF-4728-8667-154F9642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28" y="4786837"/>
            <a:ext cx="960528" cy="36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專案實戰</a:t>
            </a:r>
            <a:r>
              <a:rPr lang="zh-TW" altLang="en-US" dirty="0"/>
              <a:t> </a:t>
            </a:r>
            <a:r>
              <a:rPr lang="en-US" altLang="zh-TW" dirty="0"/>
              <a:t>#2</a:t>
            </a:r>
            <a:r>
              <a:rPr lang="zh-TW" altLang="en-US" dirty="0"/>
              <a:t>：</a:t>
            </a:r>
            <a:r>
              <a:rPr lang="zh-TW" altLang="en-US" sz="3200" dirty="0"/>
              <a:t>視覺化動態報表</a:t>
            </a:r>
            <a:r>
              <a:rPr lang="en-US" altLang="zh-TW" sz="3200" dirty="0"/>
              <a:t>(Fine</a:t>
            </a:r>
            <a:r>
              <a:rPr lang="zh-TW" altLang="en-US" sz="3200" dirty="0"/>
              <a:t> </a:t>
            </a:r>
            <a:r>
              <a:rPr lang="en-US" altLang="zh-TW" sz="3200" dirty="0"/>
              <a:t>BI)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806427"/>
            <a:ext cx="7429499" cy="1974098"/>
          </a:xfrm>
        </p:spPr>
        <p:txBody>
          <a:bodyPr/>
          <a:lstStyle/>
          <a:p>
            <a:endParaRPr dirty="0"/>
          </a:p>
          <a:p>
            <a:r>
              <a:rPr dirty="0"/>
              <a:t>KPI </a:t>
            </a:r>
            <a:r>
              <a:rPr dirty="0" err="1"/>
              <a:t>指標、地區分布、Top</a:t>
            </a:r>
            <a:r>
              <a:rPr dirty="0"/>
              <a:t> N </a:t>
            </a:r>
            <a:r>
              <a:rPr dirty="0" err="1"/>
              <a:t>名單篩選</a:t>
            </a:r>
            <a:endParaRPr dirty="0"/>
          </a:p>
          <a:p>
            <a:r>
              <a:rPr dirty="0" err="1"/>
              <a:t>互動式篩選</a:t>
            </a:r>
            <a:r>
              <a:rPr dirty="0"/>
              <a:t> + </a:t>
            </a:r>
            <a:r>
              <a:rPr dirty="0" err="1"/>
              <a:t>圖表切換，提升決策效率</a:t>
            </a:r>
            <a:endParaRPr lang="en-US" dirty="0"/>
          </a:p>
          <a:p>
            <a:pPr marL="0" indent="0"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ECABFCE-20F0-4781-B0A3-F0B5F056A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68998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7502757-4B39-41EF-ACBA-1CFC14104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87561"/>
            <a:ext cx="9144000" cy="43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1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CD4E4E-FAE9-45A9-8F3F-379DE97F8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8"/>
            <a:ext cx="9144000" cy="683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0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C64BB5-3E7E-41F7-91CC-9D3CDD6EF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1" y="2547783"/>
            <a:ext cx="8952271" cy="43765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609E175-3ACF-4449-B000-94FBDF112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71" y="0"/>
            <a:ext cx="8917858" cy="24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4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專案實戰 </a:t>
            </a:r>
            <a:r>
              <a:rPr lang="en-US" altLang="zh-TW" b="1" dirty="0"/>
              <a:t>#3</a:t>
            </a:r>
            <a:r>
              <a:rPr lang="zh-TW" altLang="en-US" b="1" dirty="0"/>
              <a:t>：集團客戶標籤分類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26700"/>
            <a:ext cx="7429499" cy="3541714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資料來源：</a:t>
            </a:r>
            <a:r>
              <a:rPr lang="en-US" altLang="zh-TW" dirty="0"/>
              <a:t>CRM </a:t>
            </a:r>
            <a:r>
              <a:rPr lang="zh-TW" altLang="en-US" dirty="0"/>
              <a:t>拜訪紀錄與客戶資料整合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標籤分類：依拜訪頻率、交易金額及關聯關係自動分群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FF0000"/>
                </a:solidFill>
              </a:rPr>
              <a:t>技術工具：</a:t>
            </a:r>
            <a:r>
              <a:rPr lang="en-US" altLang="zh-TW" dirty="0">
                <a:solidFill>
                  <a:srgbClr val="FF0000"/>
                </a:solidFill>
              </a:rPr>
              <a:t>Python pandas </a:t>
            </a:r>
            <a:r>
              <a:rPr lang="zh-TW" altLang="en-US" dirty="0">
                <a:solidFill>
                  <a:srgbClr val="FF0000"/>
                </a:solidFill>
              </a:rPr>
              <a:t>進行資料清洗與分群分析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成效：提升業務聚焦與目標客戶精準度，增加轉換率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/>
              <a:t>　　　：集團分類標籤</a:t>
            </a:r>
            <a:r>
              <a:rPr lang="en-US" altLang="zh-TW" b="1" dirty="0"/>
              <a:t>.</a:t>
            </a:r>
            <a:r>
              <a:rPr lang="en-US" altLang="zh-TW" b="1" dirty="0" err="1"/>
              <a:t>py</a:t>
            </a:r>
            <a:endParaRPr lang="zh-TW" altLang="en-US" b="1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6B7ACA1-8A4E-401A-A38F-F35A6CAEA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35" y="4966936"/>
            <a:ext cx="960528" cy="36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14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專案實戰 </a:t>
            </a:r>
            <a:r>
              <a:rPr lang="en-US" altLang="zh-TW" b="1" dirty="0"/>
              <a:t>#4</a:t>
            </a:r>
            <a:r>
              <a:rPr lang="zh-TW" altLang="en-US" b="1" dirty="0"/>
              <a:t>：</a:t>
            </a:r>
            <a:r>
              <a:rPr lang="zh-TW" altLang="en-US" dirty="0"/>
              <a:t> </a:t>
            </a:r>
            <a:r>
              <a:rPr lang="zh-TW" altLang="en-US" sz="3200" dirty="0"/>
              <a:t>爬蟲獲取潛在客戶名單</a:t>
            </a:r>
            <a:endParaRPr lang="zh-TW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243" y="1835137"/>
            <a:ext cx="8189617" cy="3574859"/>
          </a:xfrm>
        </p:spPr>
        <p:txBody>
          <a:bodyPr>
            <a:normAutofit/>
          </a:bodyPr>
          <a:lstStyle/>
          <a:p>
            <a:endParaRPr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擷取公開網站（104、HiDubai、產業協會等）名單資訊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擷取內容：公司名稱、聯絡方式、地址、官網、產業分類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使用技術：</a:t>
            </a:r>
            <a:r>
              <a:rPr kumimoji="0" lang="zh-TW" altLang="zh-TW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Python + requests / BeautifulSoup / Selenium</a:t>
            </a:r>
            <a:endParaRPr kumimoji="0" lang="en-US" altLang="zh-TW" sz="2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結果整合：清洗重複資料後</a:t>
            </a:r>
            <a:r>
              <a:rPr kumimoji="0" lang="zh-TW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導入</a:t>
            </a:r>
            <a:r>
              <a:rPr kumimoji="0" lang="en-US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CRM</a:t>
            </a: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，提供業務進行一線聯繫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效益：每日自動擷取、累積上千筆潛在名單，拓展業務開發範圍</a:t>
            </a:r>
            <a:endParaRPr lang="en-US" altLang="zh-TW" sz="2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TW" altLang="en-US" sz="2200" dirty="0">
                <a:latin typeface="Arial" panose="020B0604020202020204" pitchFamily="34" charset="0"/>
              </a:rPr>
              <a:t>　　　：</a:t>
            </a:r>
            <a:r>
              <a:rPr lang="en-US" altLang="zh-TW" sz="2200" dirty="0">
                <a:latin typeface="Arial" panose="020B0604020202020204" pitchFamily="34" charset="0"/>
              </a:rPr>
              <a:t>spider</a:t>
            </a:r>
            <a:endParaRPr kumimoji="0" lang="en-US" altLang="zh-TW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2FA87-3FCB-4CD8-90F3-6A9DAFE9B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43" y="4004413"/>
            <a:ext cx="960528" cy="36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02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效益總結與未來展望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094988"/>
            <a:ext cx="7429499" cy="3541714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⏱️ </a:t>
            </a:r>
            <a:r>
              <a:rPr dirty="0" err="1"/>
              <a:t>時間效益：從人工作業轉為全自動化</a:t>
            </a:r>
            <a:endParaRPr dirty="0"/>
          </a:p>
          <a:p>
            <a:pPr marL="0" indent="0">
              <a:buNone/>
            </a:pPr>
            <a:r>
              <a:rPr dirty="0"/>
              <a:t>📊 </a:t>
            </a:r>
            <a:r>
              <a:rPr dirty="0" err="1"/>
              <a:t>決策效率：提供高層即時監控指標</a:t>
            </a:r>
            <a:endParaRPr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dirty="0"/>
              <a:t>🚀 </a:t>
            </a:r>
            <a:r>
              <a:rPr dirty="0" err="1"/>
              <a:t>未來方向</a:t>
            </a:r>
            <a:endParaRPr lang="en-US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深入學習 LLM（Large Language Model）應用與實作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精進機器學習（ML）與深度學習（DL）模型開發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探索數據驅動產品設計與生成式 AI 實務落地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強化資料工程能力，建立更穩定的數據基礎架構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GitHub: https://github.com/rolandchen0627/rolandchen50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TM03457491[[fn=都會]]</Template>
  <TotalTime>103</TotalTime>
  <Words>490</Words>
  <Application>Microsoft Office PowerPoint</Application>
  <PresentationFormat>如螢幕大小 (4:3)</PresentationFormat>
  <Paragraphs>56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Calibri Light</vt:lpstr>
      <vt:lpstr>Consolas</vt:lpstr>
      <vt:lpstr>Trebuchet MS</vt:lpstr>
      <vt:lpstr>Tw Cen MT</vt:lpstr>
      <vt:lpstr>電路</vt:lpstr>
      <vt:lpstr>Office 佈景主題</vt:lpstr>
      <vt:lpstr>陳信榮(Roland)</vt:lpstr>
      <vt:lpstr>數據任務日常</vt:lpstr>
      <vt:lpstr>專案實戰 #1：自動派發任務</vt:lpstr>
      <vt:lpstr>專案實戰 #2：視覺化動態報表(Fine BI)</vt:lpstr>
      <vt:lpstr>PowerPoint 簡報</vt:lpstr>
      <vt:lpstr>PowerPoint 簡報</vt:lpstr>
      <vt:lpstr>PowerPoint 簡報</vt:lpstr>
      <vt:lpstr>專案實戰 #3：集團客戶標籤分類</vt:lpstr>
      <vt:lpstr>專案實戰 #4： 爬蟲獲取潛在客戶名單</vt:lpstr>
      <vt:lpstr>效益總結與未來展望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關於我 About Me</dc:title>
  <dc:subject/>
  <dc:creator>Administrator</dc:creator>
  <cp:keywords/>
  <dc:description>generated using python-pptx</dc:description>
  <cp:lastModifiedBy>陳信榮</cp:lastModifiedBy>
  <cp:revision>26</cp:revision>
  <dcterms:created xsi:type="dcterms:W3CDTF">2013-01-27T09:14:16Z</dcterms:created>
  <dcterms:modified xsi:type="dcterms:W3CDTF">2025-06-25T03:18:55Z</dcterms:modified>
  <cp:category/>
</cp:coreProperties>
</file>